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20540"/>
            <a:ext cx="9144000" cy="8229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Final Presentation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090672"/>
            <a:ext cx="3657600" cy="0"/>
          </a:xfrm>
          <a:prstGeom prst="line">
            <a:avLst/>
          </a:prstGeom>
          <a:noFill/>
          <a:ln w="1905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Funds  ·  46,000 NAV Records  ·  5 Years  ·  4 Categories  ·  7 Benchmarks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44577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AMFI India via mfapi.in  |  Bluestock Analytics Team  |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2062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251960" cy="1865376"/>
          </a:xfrm>
          <a:prstGeom prst="roundRect">
            <a:avLst>
              <a:gd name="adj" fmla="val 3431"/>
            </a:avLst>
          </a:prstGeom>
          <a:solidFill>
            <a:srgbClr val="12263D"/>
          </a:solidFill>
          <a:ln w="10160">
            <a:solidFill>
              <a:srgbClr val="1937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87552"/>
            <a:ext cx="4251960" cy="402336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515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Fragmentation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463040"/>
            <a:ext cx="4023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data spread across NAV feeds, AUM reports, SIP data, and transaction records with no unified analytical layer.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987552"/>
            <a:ext cx="4251960" cy="1865376"/>
          </a:xfrm>
          <a:prstGeom prst="roundRect">
            <a:avLst>
              <a:gd name="adj" fmla="val 3431"/>
            </a:avLst>
          </a:prstGeom>
          <a:solidFill>
            <a:srgbClr val="12263D"/>
          </a:solidFill>
          <a:ln w="10160">
            <a:solidFill>
              <a:srgbClr val="19376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987552"/>
            <a:ext cx="4251960" cy="402336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0515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No Performance Ranking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10328" y="1463040"/>
            <a:ext cx="4023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and advisors lack a systematic way to compare 40+ funds on risk-adjusted metrics — Sharpe, Sortino, Alpha, and composite score.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80944"/>
            <a:ext cx="4251960" cy="1865376"/>
          </a:xfrm>
          <a:prstGeom prst="roundRect">
            <a:avLst>
              <a:gd name="adj" fmla="val 3431"/>
            </a:avLst>
          </a:prstGeom>
          <a:solidFill>
            <a:srgbClr val="12263D"/>
          </a:solidFill>
          <a:ln w="10160">
            <a:solidFill>
              <a:srgbClr val="19376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80944"/>
            <a:ext cx="4251960" cy="402336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0449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Risk Blind Spots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456432"/>
            <a:ext cx="4023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risk (VaR/CVaR), drawdown patterns, and SIP continuity are rarely analysed together for retail investors.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980944"/>
            <a:ext cx="4251960" cy="1865376"/>
          </a:xfrm>
          <a:prstGeom prst="roundRect">
            <a:avLst>
              <a:gd name="adj" fmla="val 3431"/>
            </a:avLst>
          </a:prstGeom>
          <a:solidFill>
            <a:srgbClr val="12263D"/>
          </a:solidFill>
          <a:ln w="10160">
            <a:solidFill>
              <a:srgbClr val="19376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980944"/>
            <a:ext cx="4251960" cy="402336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0449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Our Solution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0328" y="3456432"/>
            <a:ext cx="4023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pipeline: ETL → Star Schema → EDA → Performance Analytics → Advanced Analytics → Interactive Dashboard.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2062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— 10 CSVs from AMFI India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347472" cy="256032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8412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60120" y="841248"/>
            <a:ext cx="2011680" cy="256032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84124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063240" y="841248"/>
            <a:ext cx="502920" cy="256032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9816" y="841248"/>
            <a:ext cx="429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39312" y="841248"/>
            <a:ext cx="3154680" cy="256032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84124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1115568"/>
            <a:ext cx="8430768" cy="356616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11612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87552" y="11612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fund_master.csv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63240" y="11612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39312" y="11612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name, AMC, category, expense ratio, benchmark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1490472"/>
            <a:ext cx="8430768" cy="356616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15361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87552" y="15361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nav_history.csv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063240" y="15361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46,000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39312" y="15361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 per fund — Jun 2021 to Jun 2026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1865376"/>
            <a:ext cx="8430768" cy="356616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19110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7552" y="191109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aum_by_fund_house.csv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63240" y="19110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39312" y="191109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AUM by AMC — SBI, HDFC, Axis, etc.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2240280"/>
            <a:ext cx="8430768" cy="356616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22860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87552" y="22860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monthly_sip_inflows.csv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063240" y="22860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39312" y="2286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SIP inflows Jan 2022 – Dec 2025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2615184"/>
            <a:ext cx="8430768" cy="356616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" y="26609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87552" y="266090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category_inflows.csv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063240" y="26609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39312" y="26609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net inflows per fund category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5760" y="2990088"/>
            <a:ext cx="8430768" cy="356616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30358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87552" y="303580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industry_folio_count.csv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063240" y="30358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639312" y="30358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investor folios each month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65760" y="3364992"/>
            <a:ext cx="8430768" cy="356616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3192" y="34107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987552" y="34107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scheme_performance.csv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063240" y="34107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639312" y="3410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Alpha, Beta, Drawdown, 1Y/3Y/5Y returns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5760" y="3739896"/>
            <a:ext cx="8430768" cy="356616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" y="37856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987552" y="378561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investor_transactions.csv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063240" y="37856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639312" y="37856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SIP/Lumpsum/Redemption with demographics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65760" y="4114800"/>
            <a:ext cx="8430768" cy="356616"/>
          </a:xfrm>
          <a:prstGeom prst="rect">
            <a:avLst/>
          </a:prstGeom>
          <a:solidFill>
            <a:srgbClr val="121E2E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3192" y="4160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87552" y="41605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portfolio_holdings.csv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063240" y="4160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322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639312" y="4160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Stock-level holdings for equity funds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65760" y="4489704"/>
            <a:ext cx="8430768" cy="356616"/>
          </a:xfrm>
          <a:prstGeom prst="rect">
            <a:avLst/>
          </a:prstGeom>
          <a:solidFill>
            <a:srgbClr val="1624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3192" y="453542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987552" y="453542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benchmark_indices.csv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063240" y="45354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8,050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639312" y="45354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NIFTY50, NIFTY100, NIFTY_MIDCAP150, NIFTY500...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2062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 — 5-Layer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572768" cy="1554480"/>
          </a:xfrm>
          <a:prstGeom prst="roundRect">
            <a:avLst>
              <a:gd name="adj" fmla="val 4118"/>
            </a:avLst>
          </a:prstGeom>
          <a:solidFill>
            <a:srgbClr val="1E3A5F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mfapi.in API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CSV Adapter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38528" y="1737360"/>
            <a:ext cx="91440" cy="0"/>
          </a:xfrm>
          <a:prstGeom prst="line">
            <a:avLst/>
          </a:prstGeom>
          <a:noFill/>
          <a:ln w="19050">
            <a:solidFill>
              <a:srgbClr val="0096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29968" y="960120"/>
            <a:ext cx="1572768" cy="1554480"/>
          </a:xfrm>
          <a:prstGeom prst="roundRect">
            <a:avLst>
              <a:gd name="adj" fmla="val 4118"/>
            </a:avLst>
          </a:prstGeom>
          <a:solidFill>
            <a:srgbClr val="1E3A5F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10058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29968" y="13716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29968" y="171907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· FFill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Flag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02736" y="1737360"/>
            <a:ext cx="91440" cy="0"/>
          </a:xfrm>
          <a:prstGeom prst="line">
            <a:avLst/>
          </a:prstGeom>
          <a:noFill/>
          <a:ln w="19050">
            <a:solidFill>
              <a:srgbClr val="0096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94176" y="960120"/>
            <a:ext cx="1572768" cy="1554480"/>
          </a:xfrm>
          <a:prstGeom prst="roundRect">
            <a:avLst>
              <a:gd name="adj" fmla="val 4118"/>
            </a:avLst>
          </a:prstGeom>
          <a:solidFill>
            <a:srgbClr val="1E3A5F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4176" y="10058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4176" y="13716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94176" y="171907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· Vol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52W H/L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66944" y="1737360"/>
            <a:ext cx="91440" cy="0"/>
          </a:xfrm>
          <a:prstGeom prst="line">
            <a:avLst/>
          </a:prstGeom>
          <a:noFill/>
          <a:ln w="19050">
            <a:solidFill>
              <a:srgbClr val="0096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58384" y="960120"/>
            <a:ext cx="1572768" cy="1554480"/>
          </a:xfrm>
          <a:prstGeom prst="roundRect">
            <a:avLst>
              <a:gd name="adj" fmla="val 4118"/>
            </a:avLst>
          </a:prstGeom>
          <a:solidFill>
            <a:srgbClr val="1E3A5F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58384" y="10058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58384" y="13716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58384" y="171907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Metrics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Periods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931152" y="1737360"/>
            <a:ext cx="91440" cy="0"/>
          </a:xfrm>
          <a:prstGeom prst="line">
            <a:avLst/>
          </a:prstGeom>
          <a:noFill/>
          <a:ln w="19050">
            <a:solidFill>
              <a:srgbClr val="0096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22592" y="960120"/>
            <a:ext cx="1572768" cy="1554480"/>
          </a:xfrm>
          <a:prstGeom prst="roundRect">
            <a:avLst>
              <a:gd name="adj" fmla="val 4118"/>
            </a:avLst>
          </a:prstGeom>
          <a:solidFill>
            <a:srgbClr val="0096C7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2592" y="10058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22592" y="13716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22592" y="171907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· Notebooks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035808"/>
            <a:ext cx="1353312" cy="658368"/>
          </a:xfrm>
          <a:prstGeom prst="roundRect">
            <a:avLst>
              <a:gd name="adj" fmla="val 6944"/>
            </a:avLst>
          </a:prstGeom>
          <a:solidFill>
            <a:srgbClr val="1E3A5F"/>
          </a:solidFill>
          <a:ln w="7620">
            <a:solidFill>
              <a:srgbClr val="19376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0723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dim_fund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334670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funds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10512" y="3035808"/>
            <a:ext cx="1353312" cy="658368"/>
          </a:xfrm>
          <a:prstGeom prst="roundRect">
            <a:avLst>
              <a:gd name="adj" fmla="val 6944"/>
            </a:avLst>
          </a:prstGeom>
          <a:solidFill>
            <a:srgbClr val="1E3A5F"/>
          </a:solidFill>
          <a:ln w="7620">
            <a:solidFill>
              <a:srgbClr val="19376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56232" y="30723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856232" y="334670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1,297 dates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3035808"/>
            <a:ext cx="1353312" cy="658368"/>
          </a:xfrm>
          <a:prstGeom prst="roundRect">
            <a:avLst>
              <a:gd name="adj" fmla="val 6944"/>
            </a:avLst>
          </a:prstGeom>
          <a:solidFill>
            <a:srgbClr val="1E3A5F"/>
          </a:solidFill>
          <a:ln w="7620">
            <a:solidFill>
              <a:srgbClr val="19376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00984" y="30723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fact_nav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00984" y="334670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46K rows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0016" y="3035808"/>
            <a:ext cx="1353312" cy="658368"/>
          </a:xfrm>
          <a:prstGeom prst="roundRect">
            <a:avLst>
              <a:gd name="adj" fmla="val 6944"/>
            </a:avLst>
          </a:prstGeom>
          <a:solidFill>
            <a:srgbClr val="1E3A5F"/>
          </a:solidFill>
          <a:ln w="7620">
            <a:solidFill>
              <a:srgbClr val="19376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45736" y="30723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fact_txn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45736" y="334670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32K rows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44768" y="3035808"/>
            <a:ext cx="1353312" cy="658368"/>
          </a:xfrm>
          <a:prstGeom prst="roundRect">
            <a:avLst>
              <a:gd name="adj" fmla="val 6944"/>
            </a:avLst>
          </a:prstGeom>
          <a:solidFill>
            <a:srgbClr val="1E3A5F"/>
          </a:solidFill>
          <a:ln w="7620">
            <a:solidFill>
              <a:srgbClr val="19376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0488" y="30723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fact_perf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90488" y="334670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rows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89520" y="3035808"/>
            <a:ext cx="1353312" cy="658368"/>
          </a:xfrm>
          <a:prstGeom prst="roundRect">
            <a:avLst>
              <a:gd name="adj" fmla="val 6944"/>
            </a:avLst>
          </a:prstGeom>
          <a:solidFill>
            <a:srgbClr val="1E3A5F"/>
          </a:solidFill>
          <a:ln w="7620">
            <a:solidFill>
              <a:srgbClr val="19376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35240" y="30723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fact_aum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635240" y="334670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rows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65760" y="3822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5760" y="4096512"/>
            <a:ext cx="1152144" cy="347472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7620">
            <a:solidFill>
              <a:srgbClr val="0096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2336" y="41239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609344" y="4096512"/>
            <a:ext cx="1152144" cy="347472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7620">
            <a:solidFill>
              <a:srgbClr val="0096C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45920" y="41239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852928" y="4096512"/>
            <a:ext cx="1152144" cy="347472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7620">
            <a:solidFill>
              <a:srgbClr val="0096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89504" y="41239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096512" y="4096512"/>
            <a:ext cx="1152144" cy="347472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7620">
            <a:solidFill>
              <a:srgbClr val="0096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33088" y="41239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340096" y="4096512"/>
            <a:ext cx="1152144" cy="347472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7620">
            <a:solidFill>
              <a:srgbClr val="0096C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76672" y="41239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583680" y="4096512"/>
            <a:ext cx="1152144" cy="347472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7620">
            <a:solidFill>
              <a:srgbClr val="0096C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20256" y="41239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827264" y="4096512"/>
            <a:ext cx="1152144" cy="347472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7620">
            <a:solidFill>
              <a:srgbClr val="0096C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63840" y="41239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2062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NAV Trends &amp; SIP Growth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  <p:pic>
        <p:nvPicPr>
          <p:cNvPr id="5" name="Image 0" descr="/home/claude/bluestock_mf_capstone/data/charts/chart01_nav_tr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04672"/>
            <a:ext cx="502920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931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NAV (Base=100) — All 40 Funds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2023 Bull Run  |  Red = 2024 Correction</a:t>
            </a:r>
            <a:endParaRPr lang="en-US" sz="750" dirty="0"/>
          </a:p>
        </p:txBody>
      </p:sp>
      <p:pic>
        <p:nvPicPr>
          <p:cNvPr id="7" name="Image 1" descr="/home/claude/bluestock_mf_capstone/data/charts/chart03_sip_timeser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804672"/>
            <a:ext cx="3337560" cy="2011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77840" y="28346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— Rs.31,002 Cr ATH (Dec 2025)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5577840" y="3200400"/>
            <a:ext cx="777240" cy="804672"/>
          </a:xfrm>
          <a:prstGeom prst="roundRect">
            <a:avLst>
              <a:gd name="adj" fmla="val 823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577840" y="3236976"/>
            <a:ext cx="777240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Rs.62.74L Cr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577840" y="3683203"/>
            <a:ext cx="77724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AUM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6400800" y="3200400"/>
            <a:ext cx="777240" cy="804672"/>
          </a:xfrm>
          <a:prstGeom prst="roundRect">
            <a:avLst>
              <a:gd name="adj" fmla="val 823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0" y="3236976"/>
            <a:ext cx="777240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Rs.31,002 Cr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400800" y="3683203"/>
            <a:ext cx="77724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SIP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7223760" y="3200400"/>
            <a:ext cx="777240" cy="804672"/>
          </a:xfrm>
          <a:prstGeom prst="roundRect">
            <a:avLst>
              <a:gd name="adj" fmla="val 823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223760" y="3236976"/>
            <a:ext cx="777240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26.12 Cr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223760" y="3683203"/>
            <a:ext cx="77724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Folios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8046720" y="3200400"/>
            <a:ext cx="777240" cy="804672"/>
          </a:xfrm>
          <a:prstGeom prst="roundRect">
            <a:avLst>
              <a:gd name="adj" fmla="val 823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046720" y="3236976"/>
            <a:ext cx="777240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8046720" y="3683203"/>
            <a:ext cx="77724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1Y Return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2062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Category Inflows &amp; Sector Allocation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  <p:pic>
        <p:nvPicPr>
          <p:cNvPr id="5" name="Image 0" descr="/home/claude/bluestock_mf_capstone/data/charts/chart04_category_inflow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04672"/>
            <a:ext cx="502920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931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Inflow Heatmap  |  Green=Inflow  Red=Outflow</a:t>
            </a:r>
            <a:endParaRPr lang="en-US" sz="750" dirty="0"/>
          </a:p>
        </p:txBody>
      </p:sp>
      <p:pic>
        <p:nvPicPr>
          <p:cNvPr id="7" name="Image 1" descr="/home/claude/bluestock_mf_capstone/data/charts/chart09_sector_alloc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804672"/>
            <a:ext cx="3337560" cy="3108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77840" y="39319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Fund Sector Allocation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365760" y="42519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Equity consistently net inflow; Debt shows outflows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365760" y="44531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Financial Services ~28% — largest sector weight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365760" y="465429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SIP grew 2.7x: Rs.11,500 Cr → Rs.31,002 Cr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365760" y="485546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Maharashtra + Karnataka + Delhi = 50%+ of SIP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2062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— Returns &amp; Benchmark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  <p:pic>
        <p:nvPicPr>
          <p:cNvPr id="5" name="Image 0" descr="/home/claude/bluestock_mf_capstone/data/charts/chart_benchmark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04672"/>
            <a:ext cx="5486400" cy="3337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160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Funds vs NIFTY50 &amp; NIFTY100  |  3-Year Indexed  |  TE = Tracking Error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126480" y="841248"/>
            <a:ext cx="2788920" cy="749808"/>
          </a:xfrm>
          <a:prstGeom prst="roundRect">
            <a:avLst>
              <a:gd name="adj" fmla="val 7317"/>
            </a:avLst>
          </a:prstGeom>
          <a:solidFill>
            <a:srgbClr val="12263D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36208" y="89611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1Y Return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36208" y="1097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ABSL Small Cap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15200" y="10607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24.9%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26480" y="1682496"/>
            <a:ext cx="2788920" cy="749808"/>
          </a:xfrm>
          <a:prstGeom prst="roundRect">
            <a:avLst>
              <a:gd name="adj" fmla="val 7317"/>
            </a:avLst>
          </a:prstGeom>
          <a:solidFill>
            <a:srgbClr val="12263D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36208" y="173736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3Y Return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236208" y="19385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315200" y="19019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26480" y="2523744"/>
            <a:ext cx="2788920" cy="749808"/>
          </a:xfrm>
          <a:prstGeom prst="roundRect">
            <a:avLst>
              <a:gd name="adj" fmla="val 7317"/>
            </a:avLst>
          </a:prstGeom>
          <a:solidFill>
            <a:srgbClr val="12263D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36208" y="257860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Sharpe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236208" y="27797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Liq Fund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315200" y="27432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7.680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26480" y="3364992"/>
            <a:ext cx="2788920" cy="749808"/>
          </a:xfrm>
          <a:prstGeom prst="roundRect">
            <a:avLst>
              <a:gd name="adj" fmla="val 7317"/>
            </a:avLst>
          </a:prstGeom>
          <a:solidFill>
            <a:srgbClr val="12263D"/>
          </a:solidFill>
          <a:ln w="10160">
            <a:solidFill>
              <a:srgbClr val="E67E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341985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1Y CAGR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236208" y="36210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40 Funds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315200" y="35844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126480" y="4206240"/>
            <a:ext cx="2788920" cy="749808"/>
          </a:xfrm>
          <a:prstGeom prst="roundRect">
            <a:avLst>
              <a:gd name="adj" fmla="val 7317"/>
            </a:avLst>
          </a:prstGeom>
          <a:solidFill>
            <a:srgbClr val="12263D"/>
          </a:solidFill>
          <a:ln w="10160">
            <a:solidFill>
              <a:srgbClr val="9B59B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36208" y="426110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&gt;= 1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236208" y="44622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40 Funds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315200" y="44256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2062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— Sharpe Ratio &amp; Fund Scorecard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  <p:pic>
        <p:nvPicPr>
          <p:cNvPr id="5" name="Image 0" descr="/home/claude/bluestock_mf_capstone/data/charts/chart_d4_sharpe_sorti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04672"/>
            <a:ext cx="438912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846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vs Sortino (Rf=6.5%)  |  Green&gt;=1  Amber=0-1  Red&lt;0</a:t>
            </a:r>
            <a:endParaRPr lang="en-US" sz="750" dirty="0"/>
          </a:p>
        </p:txBody>
      </p:sp>
      <p:pic>
        <p:nvPicPr>
          <p:cNvPr id="7" name="Image 1" descr="/home/claude/bluestock_mf_capstone/data/charts/chart_d4_fund_score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804672"/>
            <a:ext cx="3931920" cy="4023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83480" y="48463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Scorecard: 30% 3Y + 25% Sharpe + 20% Alpha + 15% ER + 10% MDD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2062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6 Interactive Pages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65760" cy="530352"/>
          </a:xfrm>
          <a:prstGeom prst="roundRect">
            <a:avLst>
              <a:gd name="adj" fmla="val 125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8096" y="960120"/>
            <a:ext cx="8119872" cy="530352"/>
          </a:xfrm>
          <a:prstGeom prst="roundRect">
            <a:avLst>
              <a:gd name="adj" fmla="val 8621"/>
            </a:avLst>
          </a:prstGeom>
          <a:solidFill>
            <a:srgbClr val="12263D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005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23444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KPI cards · Top/Bottom performers · Risk-return scatter · Full fund table with slicers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655064"/>
            <a:ext cx="365760" cy="530352"/>
          </a:xfrm>
          <a:prstGeom prst="roundRect">
            <a:avLst>
              <a:gd name="adj" fmla="val 125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5506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8096" y="1655064"/>
            <a:ext cx="8119872" cy="530352"/>
          </a:xfrm>
          <a:prstGeom prst="roundRect">
            <a:avLst>
              <a:gd name="adj" fmla="val 8621"/>
            </a:avLst>
          </a:prstGeom>
          <a:solidFill>
            <a:srgbClr val="12263D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17007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6112" y="19293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NAV trends · Rolling 1Y return · 90d volatility · Benchmark comparison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350008"/>
            <a:ext cx="365760" cy="530352"/>
          </a:xfrm>
          <a:prstGeom prst="roundRect">
            <a:avLst>
              <a:gd name="adj" fmla="val 125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5000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8096" y="2350008"/>
            <a:ext cx="8119872" cy="530352"/>
          </a:xfrm>
          <a:prstGeom prst="roundRect">
            <a:avLst>
              <a:gd name="adj" fmla="val 8621"/>
            </a:avLst>
          </a:prstGeom>
          <a:solidFill>
            <a:srgbClr val="12263D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23957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Analytics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96112" y="262432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ranking · Drawdown history · Daily VaR · Full risk metrics table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044952"/>
            <a:ext cx="365760" cy="530352"/>
          </a:xfrm>
          <a:prstGeom prst="roundRect">
            <a:avLst>
              <a:gd name="adj" fmla="val 125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4495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" y="3044952"/>
            <a:ext cx="8119872" cy="530352"/>
          </a:xfrm>
          <a:prstGeom prst="roundRect">
            <a:avLst>
              <a:gd name="adj" fmla="val 8621"/>
            </a:avLst>
          </a:prstGeom>
          <a:solidFill>
            <a:srgbClr val="12263D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0906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Analytics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6112" y="331927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ATH annotation · Folio growth · AUM by AMC · Category heatmap · Demographics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739896"/>
            <a:ext cx="365760" cy="530352"/>
          </a:xfrm>
          <a:prstGeom prst="roundRect">
            <a:avLst>
              <a:gd name="adj" fmla="val 125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73989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8096" y="3739896"/>
            <a:ext cx="8119872" cy="530352"/>
          </a:xfrm>
          <a:prstGeom prst="roundRect">
            <a:avLst>
              <a:gd name="adj" fmla="val 8621"/>
            </a:avLst>
          </a:prstGeom>
          <a:solidFill>
            <a:srgbClr val="12263D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37856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Optimiser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96112" y="401421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 frontier (2,000 simulations) · Max Sharpe &amp; Min Vol weights · SIP calculator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4434840"/>
            <a:ext cx="365760" cy="530352"/>
          </a:xfrm>
          <a:prstGeom prst="roundRect">
            <a:avLst>
              <a:gd name="adj" fmla="val 125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43484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68096" y="4434840"/>
            <a:ext cx="8119872" cy="530352"/>
          </a:xfrm>
          <a:prstGeom prst="roundRect">
            <a:avLst>
              <a:gd name="adj" fmla="val 8621"/>
            </a:avLst>
          </a:prstGeom>
          <a:solidFill>
            <a:srgbClr val="12263D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4480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Comparison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96112" y="470916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metrics · Winner column · Indexed NAV comparison · Radar chart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scripts/day5_dashboard.py  →  localhost:8501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2062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— VaR, Cohort &amp; Sector HHI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pic>
        <p:nvPicPr>
          <p:cNvPr id="5" name="Image 0" descr="/home/claude/bluestock_mf_capstone/data/charts/chart_d6_var_cv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04672"/>
            <a:ext cx="4389120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2004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VaR (95%) — Liquid &lt;0.01% | Small Cap -2.5%</a:t>
            </a:r>
            <a:endParaRPr lang="en-US" sz="750" dirty="0"/>
          </a:p>
        </p:txBody>
      </p:sp>
      <p:pic>
        <p:nvPicPr>
          <p:cNvPr id="7" name="Image 1" descr="/home/claude/bluestock_mf_capstone/data/charts/rolling_sharpe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804672"/>
            <a:ext cx="3931920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83480" y="3200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90-Day Sharpe — 5 Key Funds  |  Note 2024 correction dip</a:t>
            </a:r>
            <a:endParaRPr lang="en-US" sz="750" dirty="0"/>
          </a:p>
        </p:txBody>
      </p:sp>
      <p:pic>
        <p:nvPicPr>
          <p:cNvPr id="9" name="Image 2" descr="/home/claude/bluestock_mf_capstone/data/charts/chart_d6_hhi_concentr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520440"/>
            <a:ext cx="4389120" cy="1417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5760" y="495604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HHI — Small Cap most concentrated; Index most diversified</a:t>
            </a:r>
            <a:endParaRPr lang="en-US" sz="750" dirty="0"/>
          </a:p>
        </p:txBody>
      </p:sp>
      <p:pic>
        <p:nvPicPr>
          <p:cNvPr id="11" name="Image 3" descr="/home/claude/bluestock_mf_capstone/data/charts/chart_d6_coho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520440"/>
            <a:ext cx="3931920" cy="1417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83480" y="49560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 — 2025 investors show higher avg SIP ticket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2062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251960" cy="1261872"/>
          </a:xfrm>
          <a:prstGeom prst="roundRect">
            <a:avLst>
              <a:gd name="adj" fmla="val 5072"/>
            </a:avLst>
          </a:prstGeom>
          <a:solidFill>
            <a:srgbClr val="0D1B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42519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149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Structural Growth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62456"/>
            <a:ext cx="4069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grew 2.7x from Rs.11,500 Cr to Rs.31,002 Cr (Jan 2022–Dec 2025). Now a core savings instrument for Indian retail.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82312" y="960120"/>
            <a:ext cx="4251960" cy="1261872"/>
          </a:xfrm>
          <a:prstGeom prst="roundRect">
            <a:avLst>
              <a:gd name="adj" fmla="val 5072"/>
            </a:avLst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2312" y="960120"/>
            <a:ext cx="4251960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0149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Leads Returns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73752" y="1362456"/>
            <a:ext cx="4069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ABSL Small Cap: 24.9% 1Y  |  SBI Small Cap: 23.4% 3Y CAGR. Accept 20%+ drawdowns for long-term alpha.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350008"/>
            <a:ext cx="4251960" cy="1261872"/>
          </a:xfrm>
          <a:prstGeom prst="roundRect">
            <a:avLst>
              <a:gd name="adj" fmla="val 5072"/>
            </a:avLst>
          </a:prstGeom>
          <a:solidFill>
            <a:srgbClr val="0D1B2A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350008"/>
            <a:ext cx="425196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0487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Funds: Best Sharpe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752344"/>
            <a:ext cx="4069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of 7.68 for ICICI Liquid Fund — best risk-adjusted return. Zero drawdown, ideal for short-term capital.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82312" y="2350008"/>
            <a:ext cx="4251960" cy="1261872"/>
          </a:xfrm>
          <a:prstGeom prst="roundRect">
            <a:avLst>
              <a:gd name="adj" fmla="val 5072"/>
            </a:avLst>
          </a:prstGeom>
          <a:solidFill>
            <a:srgbClr val="0D1B2A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82312" y="2350008"/>
            <a:ext cx="4251960" cy="3474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0487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vs Active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73752" y="2752344"/>
            <a:ext cx="4069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 Index funds outperform most active large-cap funds on a risk-adjusted basis at 50% lower expense ratios.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739896"/>
            <a:ext cx="4251960" cy="1261872"/>
          </a:xfrm>
          <a:prstGeom prst="roundRect">
            <a:avLst>
              <a:gd name="adj" fmla="val 5072"/>
            </a:avLst>
          </a:prstGeom>
          <a:solidFill>
            <a:srgbClr val="0D1B2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739896"/>
            <a:ext cx="425196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7947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Correction Impact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142232"/>
            <a:ext cx="4069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Sharpe dropped sharply Jun–Sep 2024 across all equity categories. VaR spikes confirm tail risk materialised.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82312" y="3739896"/>
            <a:ext cx="4251960" cy="1261872"/>
          </a:xfrm>
          <a:prstGeom prst="roundRect">
            <a:avLst>
              <a:gd name="adj" fmla="val 5072"/>
            </a:avLst>
          </a:prstGeom>
          <a:solidFill>
            <a:srgbClr val="0D1B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82312" y="3739896"/>
            <a:ext cx="42519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7947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At-Risk Rate ~35%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73752" y="4142232"/>
            <a:ext cx="4069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 regular SIP investors has a gap exceeding 35 days — key retention risk and AMC engagement opportunity.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37660"/>
            <a:ext cx="9144000" cy="10058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944368"/>
            <a:ext cx="4572000" cy="0"/>
          </a:xfrm>
          <a:prstGeom prst="line">
            <a:avLst/>
          </a:prstGeom>
          <a:noFill/>
          <a:ln w="1905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9067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40 Funds  ·  46,000 NAV Records  ·  32,778 Transactions  ·  7 Benchmarks  ·  5 Years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D1–D7 Complete  ·  B1 B2 B3 B4 Bonus Delivered  ·  21 Charts  ·  31 Unit Tests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7673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Data: AMFI India via mfapi.in  ·  Run: streamlit run scripts/day5_dashboard.py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0" y="43205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2026-06-23T19:04:58Z</dcterms:created>
  <dcterms:modified xsi:type="dcterms:W3CDTF">2026-06-23T19:04:58Z</dcterms:modified>
</cp:coreProperties>
</file>