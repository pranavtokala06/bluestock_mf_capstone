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20540"/>
            <a:ext cx="9144000" cy="8229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731520"/>
            <a:ext cx="3200400" cy="32004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2926080"/>
            <a:ext cx="2286000" cy="22860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24871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Final Presentation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035808"/>
            <a:ext cx="3657600" cy="0"/>
          </a:xfrm>
          <a:prstGeom prst="line">
            <a:avLst/>
          </a:prstGeom>
          <a:noFill/>
          <a:ln w="19050">
            <a:solidFill>
              <a:srgbClr val="0096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Funds  </a:t>
            </a:r>
            <a:pPr indent="0" marL="0">
              <a:buNone/>
            </a:pPr>
            <a:r>
              <a:rPr lang="en-US" sz="110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70,797 NAV Records  ·  5 Years  ·  4 Categories  ·  10 Benchmarks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0" y="44577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AMFI India via mfapi.in  |  Bluestock Analytics Team  |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114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92608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" y="960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53312"/>
            <a:ext cx="292608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5331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" y="1353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Data Pipeline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746504"/>
            <a:ext cx="292608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4650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4672" y="17465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139696"/>
            <a:ext cx="292608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3969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4672" y="21396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— Returns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532888"/>
            <a:ext cx="292608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3288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4672" y="2532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Analytics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960120"/>
            <a:ext cx="292608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9601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02352" y="960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(VaR · Monte Carlo · Markowitz)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353312"/>
            <a:ext cx="292608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35331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02352" y="1353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Demo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1746504"/>
            <a:ext cx="292608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74650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02352" y="17465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139696"/>
            <a:ext cx="292608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13969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02352" y="21396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2532888"/>
            <a:ext cx="292608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53288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02352" y="2532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114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8412480" cy="777240"/>
          </a:xfrm>
          <a:prstGeom prst="roundRect">
            <a:avLst>
              <a:gd name="adj" fmla="val 7059"/>
            </a:avLst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Build a production-grade mutual fund analytics platform to ingest, clean, transform, and analyse Indian MF NAV data — computing institutional-quality metrics and delivering insights via interactive dashboards.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1572768" cy="1463040"/>
          </a:xfrm>
          <a:prstGeom prst="roundRect">
            <a:avLst>
              <a:gd name="adj" fmla="val 4375"/>
            </a:avLst>
          </a:prstGeom>
          <a:solidFill>
            <a:srgbClr val="1E3A5F"/>
          </a:solidFill>
          <a:ln w="10160">
            <a:solidFill>
              <a:srgbClr val="009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202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62432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mfapi.in API + CSV adapter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938528" y="2606040"/>
            <a:ext cx="91440" cy="0"/>
          </a:xfrm>
          <a:prstGeom prst="line">
            <a:avLst/>
          </a:prstGeom>
          <a:noFill/>
          <a:ln w="19050">
            <a:solidFill>
              <a:srgbClr val="0096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29968" y="1874520"/>
            <a:ext cx="1572768" cy="1463040"/>
          </a:xfrm>
          <a:prstGeom prst="roundRect">
            <a:avLst>
              <a:gd name="adj" fmla="val 4375"/>
            </a:avLst>
          </a:prstGeom>
          <a:solidFill>
            <a:srgbClr val="1E3A5F"/>
          </a:solidFill>
          <a:ln w="10160">
            <a:solidFill>
              <a:srgbClr val="0096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29968" y="19202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29968" y="22860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29968" y="262432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· FFill · Outlier flag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02736" y="2606040"/>
            <a:ext cx="91440" cy="0"/>
          </a:xfrm>
          <a:prstGeom prst="line">
            <a:avLst/>
          </a:prstGeom>
          <a:noFill/>
          <a:ln w="19050">
            <a:solidFill>
              <a:srgbClr val="0096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94176" y="1874520"/>
            <a:ext cx="1572768" cy="1463040"/>
          </a:xfrm>
          <a:prstGeom prst="roundRect">
            <a:avLst>
              <a:gd name="adj" fmla="val 4375"/>
            </a:avLst>
          </a:prstGeom>
          <a:solidFill>
            <a:srgbClr val="1E3A5F"/>
          </a:solidFill>
          <a:ln w="10160">
            <a:solidFill>
              <a:srgbClr val="0096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94176" y="19202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94176" y="22860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94176" y="262432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· Vol · 52W H/L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266944" y="2606040"/>
            <a:ext cx="91440" cy="0"/>
          </a:xfrm>
          <a:prstGeom prst="line">
            <a:avLst/>
          </a:prstGeom>
          <a:noFill/>
          <a:ln w="19050">
            <a:solidFill>
              <a:srgbClr val="0096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58384" y="1874520"/>
            <a:ext cx="1572768" cy="1463040"/>
          </a:xfrm>
          <a:prstGeom prst="roundRect">
            <a:avLst>
              <a:gd name="adj" fmla="val 4375"/>
            </a:avLst>
          </a:prstGeom>
          <a:solidFill>
            <a:srgbClr val="1E3A5F"/>
          </a:solidFill>
          <a:ln w="10160">
            <a:solidFill>
              <a:srgbClr val="0096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58384" y="19202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58384" y="22860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58384" y="262432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metrics × 4 periods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931152" y="2606040"/>
            <a:ext cx="91440" cy="0"/>
          </a:xfrm>
          <a:prstGeom prst="line">
            <a:avLst/>
          </a:prstGeom>
          <a:noFill/>
          <a:ln w="19050">
            <a:solidFill>
              <a:srgbClr val="0096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22592" y="1874520"/>
            <a:ext cx="1572768" cy="1463040"/>
          </a:xfrm>
          <a:prstGeom prst="roundRect">
            <a:avLst>
              <a:gd name="adj" fmla="val 4375"/>
            </a:avLst>
          </a:prstGeom>
          <a:solidFill>
            <a:srgbClr val="0096C7"/>
          </a:solidFill>
          <a:ln w="10160">
            <a:solidFill>
              <a:srgbClr val="0096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22592" y="19202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22592" y="22860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22592" y="262432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Notebooks · Dashboard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5760" y="3566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D1 ETL Pipeline  ·  D2 SQLite DB  ·  D3 EDA  ·  D4 Metrics  ·  D5 Dashboard  ·  D6 Advanced  ·  D7 Report + Slides  ·  B1–B4 Bonus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3977640"/>
            <a:ext cx="1115568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23360"/>
            <a:ext cx="1115568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65760" y="4471416"/>
            <a:ext cx="111556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572768" y="3977640"/>
            <a:ext cx="1115568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72768" y="4023360"/>
            <a:ext cx="1115568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70,797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572768" y="4471416"/>
            <a:ext cx="111556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Rows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79776" y="3977640"/>
            <a:ext cx="1115568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79776" y="4023360"/>
            <a:ext cx="1115568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Yrs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2779776" y="4471416"/>
            <a:ext cx="111556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986784" y="3977640"/>
            <a:ext cx="1115568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86784" y="4023360"/>
            <a:ext cx="1115568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3986784" y="4471416"/>
            <a:ext cx="111556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193792" y="3977640"/>
            <a:ext cx="1115568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93792" y="4023360"/>
            <a:ext cx="1115568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5193792" y="4471416"/>
            <a:ext cx="111556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400800" y="3977640"/>
            <a:ext cx="1115568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4023360"/>
            <a:ext cx="1115568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6400800" y="4471416"/>
            <a:ext cx="111556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Views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607808" y="3977640"/>
            <a:ext cx="1115568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07808" y="4023360"/>
            <a:ext cx="1115568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7607808" y="4471416"/>
            <a:ext cx="111556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114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Data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Universe — 19 Funds Across 4 Categories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937760" cy="301752"/>
          </a:xfrm>
          <a:prstGeom prst="rect">
            <a:avLst/>
          </a:prstGeom>
          <a:solidFill>
            <a:srgbClr val="19376D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7101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08760" y="12710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480560" y="127101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545336"/>
            <a:ext cx="4937760" cy="301752"/>
          </a:xfrm>
          <a:prstGeom prst="rect">
            <a:avLst/>
          </a:prstGeom>
          <a:solidFill>
            <a:srgbClr val="1624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58191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508760" y="15819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Cap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480560" y="158191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1856232"/>
            <a:ext cx="4937760" cy="301752"/>
          </a:xfrm>
          <a:prstGeom prst="rect">
            <a:avLst/>
          </a:prstGeom>
          <a:solidFill>
            <a:srgbClr val="121E2E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89280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08760" y="18928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Cap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80560" y="189280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167128"/>
            <a:ext cx="4937760" cy="301752"/>
          </a:xfrm>
          <a:prstGeom prst="rect">
            <a:avLst/>
          </a:prstGeom>
          <a:solidFill>
            <a:srgbClr val="1624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20370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508760" y="220370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480560" y="220370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2478024"/>
            <a:ext cx="4937760" cy="301752"/>
          </a:xfrm>
          <a:prstGeom prst="rect">
            <a:avLst/>
          </a:prstGeom>
          <a:solidFill>
            <a:srgbClr val="121E2E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51460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508760" y="25146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 Cap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480560" y="251460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2788920"/>
            <a:ext cx="4937760" cy="301752"/>
          </a:xfrm>
          <a:prstGeom prst="rect">
            <a:avLst/>
          </a:prstGeom>
          <a:solidFill>
            <a:srgbClr val="1624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82549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508760" y="28254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480560" y="282549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099816"/>
            <a:ext cx="4937760" cy="301752"/>
          </a:xfrm>
          <a:prstGeom prst="rect">
            <a:avLst/>
          </a:prstGeom>
          <a:solidFill>
            <a:srgbClr val="121E2E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13639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508760" y="31363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480560" y="313639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3410712"/>
            <a:ext cx="4937760" cy="301752"/>
          </a:xfrm>
          <a:prstGeom prst="rect">
            <a:avLst/>
          </a:prstGeom>
          <a:solidFill>
            <a:srgbClr val="1624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44728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508760" y="344728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Bond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480560" y="34472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" y="3721608"/>
            <a:ext cx="4937760" cy="301752"/>
          </a:xfrm>
          <a:prstGeom prst="rect">
            <a:avLst/>
          </a:prstGeom>
          <a:solidFill>
            <a:srgbClr val="121E2E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75818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508760" y="375818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Hybrid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480560" y="375818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65760" y="4032504"/>
            <a:ext cx="4937760" cy="301752"/>
          </a:xfrm>
          <a:prstGeom prst="rect">
            <a:avLst/>
          </a:prstGeom>
          <a:solidFill>
            <a:srgbClr val="1624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06908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508760" y="40690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Advantage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480560" y="406908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4343400"/>
            <a:ext cx="4937760" cy="301752"/>
          </a:xfrm>
          <a:prstGeom prst="rect">
            <a:avLst/>
          </a:prstGeom>
          <a:solidFill>
            <a:srgbClr val="121E2E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37997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508760" y="437997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Cap Index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480560" y="437997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577840" y="868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Database Stats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577840" y="1234440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77840" y="1280160"/>
            <a:ext cx="1572768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70,797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5577840" y="1700784"/>
            <a:ext cx="157276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Rows (5 years)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242048" y="1234440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42048" y="1280160"/>
            <a:ext cx="1572768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13,052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7242048" y="1700784"/>
            <a:ext cx="157276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Data Points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577840" y="2148840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77840" y="2194560"/>
            <a:ext cx="1572768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5577840" y="2615184"/>
            <a:ext cx="157276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Records (19×4)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242048" y="2148840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42048" y="2194560"/>
            <a:ext cx="1572768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7242048" y="2615184"/>
            <a:ext cx="157276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577840" y="3063240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577840" y="3108960"/>
            <a:ext cx="1572768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65" name="Text 63"/>
          <p:cNvSpPr/>
          <p:nvPr/>
        </p:nvSpPr>
        <p:spPr>
          <a:xfrm>
            <a:off x="5577840" y="3529584"/>
            <a:ext cx="157276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Views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242048" y="3063240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42048" y="3108960"/>
            <a:ext cx="1572768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7242048" y="3529584"/>
            <a:ext cx="157276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Indexes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5577840" y="3977640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577840" y="4023360"/>
            <a:ext cx="1572768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2021–2026</a:t>
            </a:r>
            <a:endParaRPr lang="en-US" sz="2000" dirty="0"/>
          </a:p>
        </p:txBody>
      </p:sp>
      <p:sp>
        <p:nvSpPr>
          <p:cNvPr id="71" name="Text 69"/>
          <p:cNvSpPr/>
          <p:nvPr/>
        </p:nvSpPr>
        <p:spPr>
          <a:xfrm>
            <a:off x="5577840" y="4443984"/>
            <a:ext cx="157276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7242048" y="3977640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42048" y="4023360"/>
            <a:ext cx="1572768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74" name="Text 72"/>
          <p:cNvSpPr/>
          <p:nvPr/>
        </p:nvSpPr>
        <p:spPr>
          <a:xfrm>
            <a:off x="7242048" y="4443984"/>
            <a:ext cx="157276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Indices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114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697480" cy="1572768"/>
          </a:xfrm>
          <a:prstGeom prst="roundRect">
            <a:avLst>
              <a:gd name="adj" fmla="val 4651"/>
            </a:avLst>
          </a:prstGeom>
          <a:solidFill>
            <a:srgbClr val="12263D"/>
          </a:solidFill>
          <a:ln w="10160">
            <a:solidFill>
              <a:srgbClr val="1937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9728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Equity Dominance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463040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avg 1Y CAGR: 17.4% vs Debt avg: 6.5%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97480" cy="1572768"/>
          </a:xfrm>
          <a:prstGeom prst="roundRect">
            <a:avLst>
              <a:gd name="adj" fmla="val 4651"/>
            </a:avLst>
          </a:prstGeom>
          <a:solidFill>
            <a:srgbClr val="12263D"/>
          </a:solidFill>
          <a:ln w="10160">
            <a:solidFill>
              <a:srgbClr val="1937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0128" y="109728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Correlation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10128" y="1463040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Inter-fund correlations 0.3–0.7; diversification benefits exist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35040" y="2679192"/>
            <a:ext cx="2697480" cy="1572768"/>
          </a:xfrm>
          <a:prstGeom prst="roundRect">
            <a:avLst>
              <a:gd name="adj" fmla="val 4651"/>
            </a:avLst>
          </a:prstGeom>
          <a:solidFill>
            <a:srgbClr val="12263D"/>
          </a:solidFill>
          <a:ln w="10160">
            <a:solidFill>
              <a:srgbClr val="1937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44768" y="281635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Debt Stability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44768" y="3182112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funds: max drawdown &lt;0.1%, volatility &lt;0.5%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679192"/>
            <a:ext cx="2697480" cy="1572768"/>
          </a:xfrm>
          <a:prstGeom prst="roundRect">
            <a:avLst>
              <a:gd name="adj" fmla="val 4651"/>
            </a:avLst>
          </a:prstGeom>
          <a:solidFill>
            <a:srgbClr val="12263D"/>
          </a:solidFill>
          <a:ln w="10160">
            <a:solidFill>
              <a:srgbClr val="193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81635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Volatility Spread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3182112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Liquid: 0.5% vol → Small Cap: 27.1% vol annualised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4398264"/>
            <a:ext cx="2697480" cy="1572768"/>
          </a:xfrm>
          <a:prstGeom prst="roundRect">
            <a:avLst>
              <a:gd name="adj" fmla="val 4651"/>
            </a:avLst>
          </a:prstGeom>
          <a:solidFill>
            <a:srgbClr val="12263D"/>
          </a:solidFill>
          <a:ln w="10160">
            <a:solidFill>
              <a:srgbClr val="1937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453542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No Seasonality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4901184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monthly return pattern found across funds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35040" y="4398264"/>
            <a:ext cx="2697480" cy="1572768"/>
          </a:xfrm>
          <a:prstGeom prst="roundRect">
            <a:avLst>
              <a:gd name="adj" fmla="val 4651"/>
            </a:avLst>
          </a:prstGeom>
          <a:solidFill>
            <a:srgbClr val="12263D"/>
          </a:solidFill>
          <a:ln w="10160">
            <a:solidFill>
              <a:srgbClr val="1937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68" y="453542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Hybrid Edge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44768" y="4901184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Hybrid: equity-like return with 14% volatility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114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— 1-Year CAGR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48840" y="1188720"/>
            <a:ext cx="3017520" cy="274320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1188720"/>
            <a:ext cx="2745943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795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Pru Equity &amp; Deb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940503" y="117957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63.7%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48840" y="1554480"/>
            <a:ext cx="3017520" cy="274320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48840" y="1554480"/>
            <a:ext cx="249592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5453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Midcap Fund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690480" y="154533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57.9%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148840" y="1920240"/>
            <a:ext cx="3017520" cy="274320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48840" y="1920240"/>
            <a:ext cx="1694122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9110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ABSL Frontline Equity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888682" y="191109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39.3%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148840" y="2286000"/>
            <a:ext cx="3017520" cy="274320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48840" y="2286000"/>
            <a:ext cx="1418234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2768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Mirae Asset Large Cap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612794" y="227685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32.9%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148840" y="2651760"/>
            <a:ext cx="3017520" cy="274320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48840" y="2651760"/>
            <a:ext cx="1250115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6426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Kotak Emerging Equity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44675" y="264261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29.0%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148840" y="3017520"/>
            <a:ext cx="3017520" cy="274320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48840" y="3017520"/>
            <a:ext cx="1116482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0083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Pru Flexicap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311042" y="300837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25.9%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148840" y="3383280"/>
            <a:ext cx="3017520" cy="274320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48840" y="3383280"/>
            <a:ext cx="1017335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3741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Index Fund Nifty 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211895" y="337413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23.6%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148840" y="3749040"/>
            <a:ext cx="3017520" cy="274320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48840" y="3749040"/>
            <a:ext cx="883702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7398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 Nifty Index Fund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078262" y="373989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394960" y="868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Underperformers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63640" y="1188720"/>
            <a:ext cx="2286000" cy="274320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63640" y="1188720"/>
            <a:ext cx="120831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94960" y="117957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Liquid Fund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430191" y="117957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3.7%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263640" y="1554480"/>
            <a:ext cx="2286000" cy="274320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63640" y="1554480"/>
            <a:ext cx="35923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94960" y="154533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Small Cap Fund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345283" y="154533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1.1%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263640" y="1920240"/>
            <a:ext cx="2286000" cy="274320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63640" y="1920240"/>
            <a:ext cx="13063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94960" y="191109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Balanced Advantag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322423" y="191109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0.4%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263640" y="2286000"/>
            <a:ext cx="2286000" cy="274320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63640" y="2286000"/>
            <a:ext cx="395151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94960" y="227685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Top 100 Fund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704511" y="227685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-12.1%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263640" y="2651760"/>
            <a:ext cx="2286000" cy="274320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63640" y="2651760"/>
            <a:ext cx="548640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94960" y="26426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Mid-Cap Opportuni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858000" y="264261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-16.8%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0" y="4526280"/>
            <a:ext cx="9144000" cy="59436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45720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63.7%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57200" y="48006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Hybrid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700784" y="45720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23.4%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1700784" y="48006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Cap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2944368" y="45720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22.0%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2944368" y="48006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Cap Index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4187952" y="45720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16.7%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187952" y="48006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Cap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431536" y="45720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18.8%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431536" y="48006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 Cap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6675120" y="45720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10.2%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675120" y="48006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Bond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7918704" y="45720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4.9%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7918704" y="48006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114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Analytics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Metrics — 1Y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2194560" cy="256032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17043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94560" y="1170432"/>
            <a:ext cx="594360" cy="256032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21992" y="1170432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Vol%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52928" y="1170432"/>
            <a:ext cx="658368" cy="256032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117043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MDD%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511296" y="1170432"/>
            <a:ext cx="658368" cy="256032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8728" y="117043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69664" y="1170432"/>
            <a:ext cx="658368" cy="256032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97096" y="117043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1444752"/>
            <a:ext cx="4663440" cy="292608"/>
          </a:xfrm>
          <a:prstGeom prst="rect">
            <a:avLst/>
          </a:prstGeom>
          <a:solidFill>
            <a:srgbClr val="121E2E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1481328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Pru Equity &amp; Debt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94560" y="1481328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14.1%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852928" y="14813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-4.9%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511296" y="14813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4.046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69664" y="14813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1746504"/>
            <a:ext cx="4663440" cy="292608"/>
          </a:xfrm>
          <a:prstGeom prst="rect">
            <a:avLst/>
          </a:prstGeom>
          <a:solidFill>
            <a:srgbClr val="1624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1783080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Midcap Fund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194560" y="1783080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21.0%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852928" y="17830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-11.5%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511296" y="17830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2.443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169664" y="17830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65760" y="2048256"/>
            <a:ext cx="4663440" cy="292608"/>
          </a:xfrm>
          <a:prstGeom prst="rect">
            <a:avLst/>
          </a:prstGeom>
          <a:solidFill>
            <a:srgbClr val="121E2E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2084832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ABSL Frontline Equity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194560" y="208483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16.4%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852928" y="20848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-9.2%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511296" y="20848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1.996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169664" y="20848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" y="2350008"/>
            <a:ext cx="4663440" cy="292608"/>
          </a:xfrm>
          <a:prstGeom prst="rect">
            <a:avLst/>
          </a:prstGeom>
          <a:solidFill>
            <a:srgbClr val="1624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" y="238658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Mirae Asset Large Cap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194560" y="2386584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15.6%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852928" y="23865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-7.1%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511296" y="23865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1.684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169664" y="23865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2651760"/>
            <a:ext cx="4663440" cy="292608"/>
          </a:xfrm>
          <a:prstGeom prst="rect">
            <a:avLst/>
          </a:prstGeom>
          <a:solidFill>
            <a:srgbClr val="121E2E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" y="2688336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Kotak Emerging Equity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194560" y="2688336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21.9%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852928" y="26883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-16.3%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511296" y="26883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1.023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169664" y="26883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65760" y="2953512"/>
            <a:ext cx="4663440" cy="292608"/>
          </a:xfrm>
          <a:prstGeom prst="rect">
            <a:avLst/>
          </a:prstGeom>
          <a:solidFill>
            <a:srgbClr val="1624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3192" y="2990088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Pru Flexicap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194560" y="2990088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18.8%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852928" y="2990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-12.0%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511296" y="2990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1.031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169664" y="2990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65760" y="3255264"/>
            <a:ext cx="4663440" cy="292608"/>
          </a:xfrm>
          <a:prstGeom prst="rect">
            <a:avLst/>
          </a:prstGeom>
          <a:solidFill>
            <a:srgbClr val="121E2E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93192" y="3291840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Index Fund Nifty 5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194560" y="3291840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852928" y="32918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-8.9%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511296" y="32918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1.186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169664" y="32918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65760" y="3557016"/>
            <a:ext cx="4663440" cy="292608"/>
          </a:xfrm>
          <a:prstGeom prst="rect">
            <a:avLst/>
          </a:prstGeom>
          <a:solidFill>
            <a:srgbClr val="1624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3192" y="3593592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 Nifty Index Fund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194560" y="359359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15.4%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852928" y="35935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-8.7%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511296" y="35935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0.906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169664" y="35935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486400" y="868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Insights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486400" y="1170432"/>
            <a:ext cx="3337560" cy="841248"/>
          </a:xfrm>
          <a:prstGeom prst="roundRect">
            <a:avLst>
              <a:gd name="adj" fmla="val 6522"/>
            </a:avLst>
          </a:prstGeom>
          <a:solidFill>
            <a:srgbClr val="12263D"/>
          </a:solidFill>
          <a:ln w="8890">
            <a:solidFill>
              <a:srgbClr val="19376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596128" y="12435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&gt; 1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903720" y="124358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19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5596128" y="1554480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delivered risk-adjusted return above threshold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5486400" y="2130552"/>
            <a:ext cx="3337560" cy="841248"/>
          </a:xfrm>
          <a:prstGeom prst="roundRect">
            <a:avLst>
              <a:gd name="adj" fmla="val 6522"/>
            </a:avLst>
          </a:prstGeom>
          <a:solidFill>
            <a:srgbClr val="12263D"/>
          </a:solidFill>
          <a:ln w="8890">
            <a:solidFill>
              <a:srgbClr val="19376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596128" y="22037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Vol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903720" y="220370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14.1%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5596128" y="2514600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annualised volatility across all equity funds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5486400" y="3090672"/>
            <a:ext cx="3337560" cy="841248"/>
          </a:xfrm>
          <a:prstGeom prst="roundRect">
            <a:avLst>
              <a:gd name="adj" fmla="val 6522"/>
            </a:avLst>
          </a:prstGeom>
          <a:solidFill>
            <a:srgbClr val="12263D"/>
          </a:solidFill>
          <a:ln w="8890">
            <a:solidFill>
              <a:srgbClr val="19376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596128" y="31638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MDD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903720" y="316382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-36.9%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5596128" y="3474720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Top 100 Fund over the measured period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5486400" y="4050792"/>
            <a:ext cx="3337560" cy="841248"/>
          </a:xfrm>
          <a:prstGeom prst="roundRect">
            <a:avLst>
              <a:gd name="adj" fmla="val 6522"/>
            </a:avLst>
          </a:prstGeom>
          <a:solidFill>
            <a:srgbClr val="12263D"/>
          </a:solidFill>
          <a:ln w="8890">
            <a:solidFill>
              <a:srgbClr val="19376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596128" y="41239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MDD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903720" y="412394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-0.09%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5596128" y="4434840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Liquid Fund — near-zero drawdown as expected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114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4206240" cy="1901952"/>
          </a:xfrm>
          <a:prstGeom prst="roundRect">
            <a:avLst>
              <a:gd name="adj" fmla="val 3365"/>
            </a:avLst>
          </a:prstGeom>
          <a:solidFill>
            <a:srgbClr val="0D1B2A"/>
          </a:solidFill>
          <a:ln w="10160">
            <a:solidFill>
              <a:srgbClr val="1937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32688"/>
            <a:ext cx="4206240" cy="384048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987552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Value at Risk (VaR)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Historical 95% VaR computed for all equity funds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CVaR (Expected Shortfall) captures tail risk beyond VaR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0482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Liquid funds: VaR &lt; 0.05% · Equity funds: 1.2%–2.3%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Methodology: Historical simulation, 5th percentile of daily returns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932688"/>
            <a:ext cx="4206240" cy="1901952"/>
          </a:xfrm>
          <a:prstGeom prst="roundRect">
            <a:avLst>
              <a:gd name="adj" fmla="val 3365"/>
            </a:avLst>
          </a:prstGeom>
          <a:solidFill>
            <a:srgbClr val="0D1B2A"/>
          </a:solidFill>
          <a:ln w="10160">
            <a:solidFill>
              <a:srgbClr val="19376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932688"/>
            <a:ext cx="4206240" cy="384048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987552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 Monte Carlo Simulation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3898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1,000 GBM paths · 1-year horizon · Base ₹1,00,000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92040" y="171907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ICICI Equity &amp; Debt: median FV ₹1.58L, P(profit) 79%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92040" y="20482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Axis Midcap: median FV ₹1.44L with wide confidence band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92040" y="23774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Models both expected returns and downside scenarios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944368"/>
            <a:ext cx="4206240" cy="1901952"/>
          </a:xfrm>
          <a:prstGeom prst="roundRect">
            <a:avLst>
              <a:gd name="adj" fmla="val 3365"/>
            </a:avLst>
          </a:prstGeom>
          <a:solidFill>
            <a:srgbClr val="0D1B2A"/>
          </a:solidFill>
          <a:ln w="10160">
            <a:solidFill>
              <a:srgbClr val="19376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944368"/>
            <a:ext cx="4206240" cy="384048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2999232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Markowitz Efficient Frontier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4015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3,000 random portfolios simulated across equity universe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7307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Max-Sharpe portfolio identified (Sharpe ≈ 2.1)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05993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Min-Volatility portfolio: ~12.3% vol, ~18% return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3891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Demonstrates diversification reduces risk without proportional return loss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944368"/>
            <a:ext cx="4206240" cy="1901952"/>
          </a:xfrm>
          <a:prstGeom prst="roundRect">
            <a:avLst>
              <a:gd name="adj" fmla="val 3365"/>
            </a:avLst>
          </a:prstGeom>
          <a:solidFill>
            <a:srgbClr val="0D1B2A"/>
          </a:solidFill>
          <a:ln w="10160">
            <a:solidFill>
              <a:srgbClr val="19376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944368"/>
            <a:ext cx="4206240" cy="384048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2999232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Fund Clustering (K-Means)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34015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K=4 clusters: Conservative · Balanced · Aggressive · High-Alpha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37307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Features: CAGR, vol, Sharpe, beta, alpha, max drawdown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92040" y="405993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Cluster analysis aids investor profiling and fund selection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43891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Elbow method confirmed k=4 as optimal cluster count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114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— Streamlit App (B2)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fully interactive pages with slicers on every page: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365760" cy="530352"/>
          </a:xfrm>
          <a:prstGeom prst="roundRect">
            <a:avLst>
              <a:gd name="adj" fmla="val 12500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4672" y="1234440"/>
            <a:ext cx="8065008" cy="530352"/>
          </a:xfrm>
          <a:prstGeom prst="roundRect">
            <a:avLst>
              <a:gd name="adj" fmla="val 8621"/>
            </a:avLst>
          </a:prstGeom>
          <a:solidFill>
            <a:srgbClr val="12263D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2801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32688" y="150876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· Top/Bottom performers · Risk-return scatter · Fund snapshot table · Universe breakdown donut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984248"/>
            <a:ext cx="365760" cy="530352"/>
          </a:xfrm>
          <a:prstGeom prst="roundRect">
            <a:avLst>
              <a:gd name="adj" fmla="val 12500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84248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4672" y="1984248"/>
            <a:ext cx="8065008" cy="530352"/>
          </a:xfrm>
          <a:prstGeom prst="roundRect">
            <a:avLst>
              <a:gd name="adj" fmla="val 8621"/>
            </a:avLst>
          </a:prstGeom>
          <a:solidFill>
            <a:srgbClr val="12263D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20299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32688" y="22585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trend (indexed) · Rolling returns · 90d volatility · Benchmark vs Fund · Monthly return heatmap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734056"/>
            <a:ext cx="365760" cy="530352"/>
          </a:xfrm>
          <a:prstGeom prst="roundRect">
            <a:avLst>
              <a:gd name="adj" fmla="val 12500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34056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4672" y="2734056"/>
            <a:ext cx="8065008" cy="530352"/>
          </a:xfrm>
          <a:prstGeom prst="roundRect">
            <a:avLst>
              <a:gd name="adj" fmla="val 8621"/>
            </a:avLst>
          </a:prstGeom>
          <a:solidFill>
            <a:srgbClr val="12263D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277977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Analytics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32688" y="300837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ranking · Drawdown history · Daily VaR comparison · Full risk metrics table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3483864"/>
            <a:ext cx="365760" cy="530352"/>
          </a:xfrm>
          <a:prstGeom prst="roundRect">
            <a:avLst>
              <a:gd name="adj" fmla="val 12500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483864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4672" y="3483864"/>
            <a:ext cx="8065008" cy="530352"/>
          </a:xfrm>
          <a:prstGeom prst="roundRect">
            <a:avLst>
              <a:gd name="adj" fmla="val 8621"/>
            </a:avLst>
          </a:prstGeom>
          <a:solidFill>
            <a:srgbClr val="12263D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35295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Optimiser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32688" y="375818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Markowitz efficient frontier · Max Sharpe weights · Min Vol weights · SIP calculator with growth chart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4233672"/>
            <a:ext cx="365760" cy="530352"/>
          </a:xfrm>
          <a:prstGeom prst="roundRect">
            <a:avLst>
              <a:gd name="adj" fmla="val 12500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233672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4672" y="4233672"/>
            <a:ext cx="8065008" cy="530352"/>
          </a:xfrm>
          <a:prstGeom prst="roundRect">
            <a:avLst>
              <a:gd name="adj" fmla="val 8621"/>
            </a:avLst>
          </a:prstGeom>
          <a:solidFill>
            <a:srgbClr val="12263D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" y="42793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Comparison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32688" y="45079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metrics · Winner highlighting · Indexed NAV comparison · Performance radar chart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streamlit run source_code/streamlit_app/app.py  →  localhost:8501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114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Performance — CAGR Across Periods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CAGR % by Sub-Category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Hybrid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0" y="1234440"/>
            <a:ext cx="5943600" cy="2560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234440"/>
            <a:ext cx="5408676" cy="2560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49540" y="12252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1Y: 63.7%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286000" y="1499616"/>
            <a:ext cx="5943600" cy="2560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1499616"/>
            <a:ext cx="3421815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2679" y="14904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3Y: 40.3%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0" y="1764792"/>
            <a:ext cx="5943600" cy="2560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0" y="1764792"/>
            <a:ext cx="2156678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7542" y="17556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5Y: 25.4%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20040" y="2203704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Cap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286000" y="2203704"/>
            <a:ext cx="5943600" cy="2560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2203704"/>
            <a:ext cx="1986861" cy="2560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27725" y="2194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1Y: 23.4%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286000" y="2468880"/>
            <a:ext cx="5943600" cy="2560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2468880"/>
            <a:ext cx="1324574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65438" y="24597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3Y: 15.6%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286000" y="2734056"/>
            <a:ext cx="5943600" cy="2560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2734056"/>
            <a:ext cx="102739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8258" y="27249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5Y: 12.1%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20040" y="3172968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Cap Index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286000" y="3172968"/>
            <a:ext cx="5943600" cy="2560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172968"/>
            <a:ext cx="1867989" cy="2560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8853" y="31638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1Y: 22.0%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286000" y="3438144"/>
            <a:ext cx="5943600" cy="2560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0" y="3438144"/>
            <a:ext cx="2105733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46597" y="3429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3Y: 24.8%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286000" y="3703320"/>
            <a:ext cx="5943600" cy="2560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0" y="3703320"/>
            <a:ext cx="160477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45636" y="36941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5Y: 18.9%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20040" y="4142232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 Cap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286000" y="4142232"/>
            <a:ext cx="5943600" cy="2560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0" y="4142232"/>
            <a:ext cx="1596281" cy="2560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7145" y="41330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1Y: 18.8%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286000" y="4407408"/>
            <a:ext cx="5943600" cy="2560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0" y="4407408"/>
            <a:ext cx="1715153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56017" y="43982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3Y: 20.2%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286000" y="4672584"/>
            <a:ext cx="5943600" cy="2560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86000" y="4672584"/>
            <a:ext cx="942485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83349" y="4663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5Y: 11.1%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20040" y="5111496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Cap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286000" y="5111496"/>
            <a:ext cx="5943600" cy="2560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286000" y="5111496"/>
            <a:ext cx="1417973" cy="2560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58837" y="51023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1Y: 16.7%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286000" y="5376672"/>
            <a:ext cx="5943600" cy="2560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286000" y="5376672"/>
            <a:ext cx="1884970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25834" y="5367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3Y: 22.2%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286000" y="5641848"/>
            <a:ext cx="5943600" cy="2560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86000" y="5641848"/>
            <a:ext cx="1570809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11673" y="56327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5Y: 18.5%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20040" y="6080760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286000" y="6080760"/>
            <a:ext cx="5943600" cy="2560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286000" y="6080760"/>
            <a:ext cx="925503" cy="2560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66367" y="60716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1Y: 10.9%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286000" y="6345936"/>
            <a:ext cx="5943600" cy="2560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86000" y="6345936"/>
            <a:ext cx="1239665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580529" y="63367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3Y: 14.6%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2286000" y="6611112"/>
            <a:ext cx="5943600" cy="2560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286000" y="6611112"/>
            <a:ext cx="874558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15422" y="6601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5Y: 10.3%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320040" y="7050024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Bond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286000" y="7050024"/>
            <a:ext cx="5943600" cy="2560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286000" y="7050024"/>
            <a:ext cx="866067" cy="2560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06931" y="7040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1Y: 10.2%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2286000" y="7315200"/>
            <a:ext cx="5943600" cy="2560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286000" y="7315200"/>
            <a:ext cx="1069848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410712" y="73060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3Y: 12.6%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2286000" y="7580376"/>
            <a:ext cx="5943600" cy="2560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286000" y="7580376"/>
            <a:ext cx="747195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088059" y="7571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5Y: 8.8%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320040" y="8019288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2286000" y="8019288"/>
            <a:ext cx="5943600" cy="2560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286000" y="8019288"/>
            <a:ext cx="416052" cy="2560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756916" y="80101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1Y: 4.9%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2286000" y="8284464"/>
            <a:ext cx="5943600" cy="2560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286000" y="8284464"/>
            <a:ext cx="424543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765407" y="8275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3Y: 5.0%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2286000" y="8549640"/>
            <a:ext cx="5943600" cy="2560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286000" y="8549640"/>
            <a:ext cx="43303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773898" y="85404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5Y: 5.1%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320040" y="8988552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286000" y="8988552"/>
            <a:ext cx="5943600" cy="2560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286000" y="8988552"/>
            <a:ext cx="93399" cy="2560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434263" y="89794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1Y: 1.1%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2286000" y="9253728"/>
            <a:ext cx="5943600" cy="2560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286000" y="9253728"/>
            <a:ext cx="2122714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463578" y="92445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3Y: 25.0%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2286000" y="9518904"/>
            <a:ext cx="5943600" cy="2560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286000" y="9518904"/>
            <a:ext cx="2292531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633395" y="9509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5Y: 27.0%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320040" y="9957816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Advantage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2286000" y="9957816"/>
            <a:ext cx="5943600" cy="2560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286000" y="9957816"/>
            <a:ext cx="33963" cy="2560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374827" y="99486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1Y: 0.4%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2286000" y="10222992"/>
            <a:ext cx="5943600" cy="2560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286000" y="10222992"/>
            <a:ext cx="781159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122023" y="102138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3Y: 9.2%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2286000" y="10488168"/>
            <a:ext cx="5943600" cy="2560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286000" y="10488168"/>
            <a:ext cx="755686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096550" y="104790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5Y: 8.9%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114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788920" cy="1920240"/>
          </a:xfrm>
          <a:prstGeom prst="roundRect">
            <a:avLst>
              <a:gd name="adj" fmla="val 3333"/>
            </a:avLst>
          </a:prstGeom>
          <a:solidFill>
            <a:srgbClr val="0D1B2A"/>
          </a:solidFill>
          <a:ln w="1524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14400"/>
            <a:ext cx="278892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784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Best Return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2606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Pru Equity &amp; Debt Fund — 63.7% 1Y CAGR with Sharpe of 4.05. Aggressive Hybrid category outperformed all equity sub-categories on risk-adjusted basis.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788920" cy="1920240"/>
          </a:xfrm>
          <a:prstGeom prst="roundRect">
            <a:avLst>
              <a:gd name="adj" fmla="val 3333"/>
            </a:avLst>
          </a:prstGeom>
          <a:solidFill>
            <a:srgbClr val="0D1B2A"/>
          </a:solidFill>
          <a:ln w="15240">
            <a:solidFill>
              <a:srgbClr val="0096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914400"/>
            <a:ext cx="2788920" cy="4114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9784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Index Funds Win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37560" y="1389888"/>
            <a:ext cx="2606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Cap Index funds (Sharpe &gt;1.0) outperformed majority of active large-cap funds — lower expense ratios compound the advantage over time.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72200" y="2971800"/>
            <a:ext cx="2788920" cy="1920240"/>
          </a:xfrm>
          <a:prstGeom prst="roundRect">
            <a:avLst>
              <a:gd name="adj" fmla="val 3333"/>
            </a:avLst>
          </a:prstGeom>
          <a:solidFill>
            <a:srgbClr val="0D1B2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2971800"/>
            <a:ext cx="27889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30358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Risk-Return Law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63640" y="3447288"/>
            <a:ext cx="2606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Mid/Small Cap funds: highest CAGR (23–27%) but worst drawdowns (18–37%). Debt/Liquid funds: 4–10% CAGR but near-zero risk. No free lunch exists.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2788920" cy="1920240"/>
          </a:xfrm>
          <a:prstGeom prst="roundRect">
            <a:avLst>
              <a:gd name="adj" fmla="val 3333"/>
            </a:avLst>
          </a:prstGeom>
          <a:solidFill>
            <a:srgbClr val="0D1B2A"/>
          </a:solidFill>
          <a:ln w="15240">
            <a:solidFill>
              <a:srgbClr val="E74C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971800"/>
            <a:ext cx="2788920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0358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Inconsistency Risk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3447288"/>
            <a:ext cx="2606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Mid-Cap: -16.8% 1Y but +25% 3Y CAGR. Short-term performance is not predictive. Rolling CAGR consistency matters more than point-in-time returns.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46120" y="5029200"/>
            <a:ext cx="2788920" cy="1920240"/>
          </a:xfrm>
          <a:prstGeom prst="roundRect">
            <a:avLst>
              <a:gd name="adj" fmla="val 3333"/>
            </a:avLst>
          </a:prstGeom>
          <a:solidFill>
            <a:srgbClr val="0D1B2A"/>
          </a:solidFill>
          <a:ln w="15240">
            <a:solidFill>
              <a:srgbClr val="27AE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0" y="5029200"/>
            <a:ext cx="278892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50932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For Conservative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37560" y="5504688"/>
            <a:ext cx="2606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+ Corporate Bond funds (4–10% CAGR, Sharpe &gt;0.9). HDFC Liquid and Mirae Asset Cash Management for sub-1-year horizons.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72200" y="5029200"/>
            <a:ext cx="2788920" cy="1920240"/>
          </a:xfrm>
          <a:prstGeom prst="roundRect">
            <a:avLst>
              <a:gd name="adj" fmla="val 3333"/>
            </a:avLst>
          </a:prstGeom>
          <a:solidFill>
            <a:srgbClr val="0D1B2A"/>
          </a:solidFill>
          <a:ln w="15240">
            <a:solidFill>
              <a:srgbClr val="0096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5029200"/>
            <a:ext cx="2788920" cy="4114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50932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For Aggressive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63640" y="5504688"/>
            <a:ext cx="2606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Cap + Small Cap + Aggressive Hybrid for 5Y+ horizon. Accept 20–30% drawdowns. SBI Small Cap: 27% 5Y CAGR despite weak 1Y performance.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114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 &amp; Deliverables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4572000" cy="329184"/>
          </a:xfrm>
          <a:prstGeom prst="rect">
            <a:avLst/>
          </a:prstGeom>
          <a:solidFill>
            <a:srgbClr val="121E2E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435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514600" y="12435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4572000" cy="329184"/>
          </a:xfrm>
          <a:prstGeom prst="rect">
            <a:avLst/>
          </a:prstGeom>
          <a:solidFill>
            <a:srgbClr val="1624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910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14600" y="15910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1901952"/>
            <a:ext cx="4572000" cy="329184"/>
          </a:xfrm>
          <a:prstGeom prst="rect">
            <a:avLst/>
          </a:prstGeom>
          <a:solidFill>
            <a:srgbClr val="121E2E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38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14600" y="19385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&amp; optimisation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249424"/>
            <a:ext cx="4572000" cy="329184"/>
          </a:xfrm>
          <a:prstGeom prst="rect">
            <a:avLst/>
          </a:prstGeom>
          <a:solidFill>
            <a:srgbClr val="1624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86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(WAL mode)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514600" y="2286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— 8 tables, 6 views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596896"/>
            <a:ext cx="4572000" cy="329184"/>
          </a:xfrm>
          <a:prstGeom prst="rect">
            <a:avLst/>
          </a:prstGeom>
          <a:solidFill>
            <a:srgbClr val="121E2E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633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Plotly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14600" y="26334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2944368"/>
            <a:ext cx="4572000" cy="329184"/>
          </a:xfrm>
          <a:prstGeom prst="rect">
            <a:avLst/>
          </a:prstGeom>
          <a:solidFill>
            <a:srgbClr val="1624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809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Lab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14600" y="29809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notebooks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91840"/>
            <a:ext cx="4572000" cy="329184"/>
          </a:xfrm>
          <a:prstGeom prst="rect">
            <a:avLst/>
          </a:prstGeom>
          <a:solidFill>
            <a:srgbClr val="121E2E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3284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14600" y="33284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generation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639312"/>
            <a:ext cx="4572000" cy="329184"/>
          </a:xfrm>
          <a:prstGeom prst="rect">
            <a:avLst/>
          </a:prstGeom>
          <a:solidFill>
            <a:srgbClr val="1624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675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PptxGenJS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14600" y="36758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slides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986784"/>
            <a:ext cx="4572000" cy="329184"/>
          </a:xfrm>
          <a:prstGeom prst="rect">
            <a:avLst/>
          </a:prstGeom>
          <a:solidFill>
            <a:srgbClr val="121E2E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023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/ APScheduler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514600" y="40233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automation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4334256"/>
            <a:ext cx="4572000" cy="329184"/>
          </a:xfrm>
          <a:prstGeom prst="rect">
            <a:avLst/>
          </a:prstGeom>
          <a:solidFill>
            <a:srgbClr val="1624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370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(31 tests)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514600" y="4370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 — all passing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21208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212080" y="1207008"/>
            <a:ext cx="3657600" cy="329184"/>
          </a:xfrm>
          <a:prstGeom prst="rect">
            <a:avLst/>
          </a:prstGeom>
          <a:solidFill>
            <a:srgbClr val="121E2E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57800" y="124358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650992" y="12435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(.py)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321040" y="124358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12080" y="1554480"/>
            <a:ext cx="3657600" cy="329184"/>
          </a:xfrm>
          <a:prstGeom prst="rect">
            <a:avLst/>
          </a:prstGeom>
          <a:solidFill>
            <a:srgbClr val="1624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57800" y="159105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650992" y="15910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(.db)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321040" y="159105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212080" y="1901952"/>
            <a:ext cx="3657600" cy="329184"/>
          </a:xfrm>
          <a:prstGeom prst="rect">
            <a:avLst/>
          </a:prstGeom>
          <a:solidFill>
            <a:srgbClr val="121E2E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57800" y="193852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650992" y="19385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Notebook (.ipynb)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321040" y="193852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212080" y="2249424"/>
            <a:ext cx="3657600" cy="329184"/>
          </a:xfrm>
          <a:prstGeom prst="rect">
            <a:avLst/>
          </a:prstGeom>
          <a:solidFill>
            <a:srgbClr val="1624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57800" y="228600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650992" y="2286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(.ipynb + CSV)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321040" y="22860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212080" y="2596896"/>
            <a:ext cx="3657600" cy="329184"/>
          </a:xfrm>
          <a:prstGeom prst="rect">
            <a:avLst/>
          </a:prstGeom>
          <a:solidFill>
            <a:srgbClr val="121E2E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57800" y="263347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650992" y="26334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(Streamlit + Power BI guide)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321040" y="26334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212080" y="2944368"/>
            <a:ext cx="3657600" cy="329184"/>
          </a:xfrm>
          <a:prstGeom prst="rect">
            <a:avLst/>
          </a:prstGeom>
          <a:solidFill>
            <a:srgbClr val="1624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57800" y="298094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650992" y="29809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(.ipynb)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8321040" y="298094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212080" y="3291840"/>
            <a:ext cx="3657600" cy="329184"/>
          </a:xfrm>
          <a:prstGeom prst="rect">
            <a:avLst/>
          </a:prstGeom>
          <a:solidFill>
            <a:srgbClr val="121E2E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57800" y="33284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650992" y="33284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(.pdf) + Slides (.pptx)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321040" y="33284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212080" y="3639312"/>
            <a:ext cx="3657600" cy="329184"/>
          </a:xfrm>
          <a:prstGeom prst="rect">
            <a:avLst/>
          </a:prstGeom>
          <a:solidFill>
            <a:srgbClr val="1624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257800" y="367588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650992" y="36758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ETL Scheduling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8321040" y="36758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212080" y="3986784"/>
            <a:ext cx="3657600" cy="329184"/>
          </a:xfrm>
          <a:prstGeom prst="rect">
            <a:avLst/>
          </a:prstGeom>
          <a:solidFill>
            <a:srgbClr val="121E2E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257800" y="40233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650992" y="4023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8321040" y="40233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212080" y="4334256"/>
            <a:ext cx="3657600" cy="329184"/>
          </a:xfrm>
          <a:prstGeom prst="rect">
            <a:avLst/>
          </a:prstGeom>
          <a:solidFill>
            <a:srgbClr val="1624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257800" y="437083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650992" y="43708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8321040" y="43708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5212080" y="4681728"/>
            <a:ext cx="3657600" cy="329184"/>
          </a:xfrm>
          <a:prstGeom prst="rect">
            <a:avLst/>
          </a:prstGeom>
          <a:solidFill>
            <a:srgbClr val="121E2E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257800" y="471830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650992" y="47183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Markowitz Optimisation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8321040" y="47183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114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Enhancements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Past performance does not guarantee future returns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5-year window includes post-COVID recovery rally (may inflate CAGR)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Benchmark matching uses stated benchmark, not actual fund exposure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5237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Expense ratios missing for some funds — net return comparisons affected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96265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Synthetic benchmark data uses GBM approximation for some indices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4015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19-fund universe is illustrative — full AMFI list has 2,000+ schemes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0" y="868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0" y="12070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Expand to 500+ fund universe (full AMFI scheme list)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120640" y="16459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XIRR-based SIP return analysis for periodic investments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120640" y="20848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AUM-weighted return calculations for market-cap perspective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120640" y="25237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Bull/bear regime detection for conditional performance analysis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20640" y="29626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Collaborative filtering fund recommendation engine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120640" y="34015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Deploy Streamlit app on cloud (Streamlit Cloud / AWS EC2)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120640" y="38404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Real-time NAV updates via scheduled API polling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120640" y="42793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Automated HTML email reports (B5 bonus deliverable)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46220"/>
            <a:ext cx="9144000" cy="10972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914400"/>
            <a:ext cx="4114800" cy="41148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27248"/>
            <a:ext cx="4572000" cy="0"/>
          </a:xfrm>
          <a:prstGeom prst="line">
            <a:avLst/>
          </a:prstGeom>
          <a:noFill/>
          <a:ln w="19050">
            <a:solidFill>
              <a:srgbClr val="009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91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19 Funds  ·  70,797 NAV Records  ·  5 Years  ·  15 Metrics per Fund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6393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D1–D7 Complete  ·  B1 B2 B3 B4 Bonus Delivered  ·  31 Tests Passing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9867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Data Source: AMFI India via mfapi.in  ·  Bluestock Analytics Team · 2025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0" y="42291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Mutual Fund Analytics Capstone</dc:title>
  <dc:subject>PptxGenJS Presentation</dc:subject>
  <dc:creator>Bluestock Analytics Team</dc:creator>
  <cp:lastModifiedBy>Bluestock Analytics Team</cp:lastModifiedBy>
  <cp:revision>1</cp:revision>
  <dcterms:created xsi:type="dcterms:W3CDTF">2026-06-04T17:21:51Z</dcterms:created>
  <dcterms:modified xsi:type="dcterms:W3CDTF">2026-06-04T17:21:51Z</dcterms:modified>
</cp:coreProperties>
</file>